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8DB9F1A-9807-4F98-8627-6DC972D3DC2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6"/>
            <p14:sldId id="264"/>
            <p14:sldId id="265"/>
          </p14:sldIdLst>
        </p14:section>
        <p14:section name="Untitled Section" id="{8D204E0C-41C9-4340-9107-5ED60828268F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C109B-53F8-4C49-B934-E1FB3D8A55AD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D9DB0-E7FC-4731-B8C3-B35B5C4C6B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894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D9DB0-E7FC-4731-B8C3-B35B5C4C6B1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236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D9DB0-E7FC-4731-B8C3-B35B5C4C6B1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655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19FC-88FF-4D1E-A5DD-76410DCAE12F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0E81-161E-4E2D-9272-5880C9537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680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19FC-88FF-4D1E-A5DD-76410DCAE12F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0E81-161E-4E2D-9272-5880C9537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08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19FC-88FF-4D1E-A5DD-76410DCAE12F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0E81-161E-4E2D-9272-5880C9537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658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19FC-88FF-4D1E-A5DD-76410DCAE12F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0E81-161E-4E2D-9272-5880C9537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104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19FC-88FF-4D1E-A5DD-76410DCAE12F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0E81-161E-4E2D-9272-5880C9537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892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19FC-88FF-4D1E-A5DD-76410DCAE12F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0E81-161E-4E2D-9272-5880C9537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66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19FC-88FF-4D1E-A5DD-76410DCAE12F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0E81-161E-4E2D-9272-5880C9537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753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19FC-88FF-4D1E-A5DD-76410DCAE12F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0E81-161E-4E2D-9272-5880C9537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337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19FC-88FF-4D1E-A5DD-76410DCAE12F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0E81-161E-4E2D-9272-5880C9537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161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19FC-88FF-4D1E-A5DD-76410DCAE12F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0E81-161E-4E2D-9272-5880C9537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16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19FC-88FF-4D1E-A5DD-76410DCAE12F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0E81-161E-4E2D-9272-5880C9537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64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19FC-88FF-4D1E-A5DD-76410DCAE12F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0E81-161E-4E2D-9272-5880C9537F0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8756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19FC-88FF-4D1E-A5DD-76410DCAE12F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0E81-161E-4E2D-9272-5880C9537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477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19FC-88FF-4D1E-A5DD-76410DCAE12F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0E81-161E-4E2D-9272-5880C9537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906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19FC-88FF-4D1E-A5DD-76410DCAE12F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0E81-161E-4E2D-9272-5880C9537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483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19FC-88FF-4D1E-A5DD-76410DCAE12F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0E81-161E-4E2D-9272-5880C9537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059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C19FC-88FF-4D1E-A5DD-76410DCAE12F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0E81-161E-4E2D-9272-5880C9537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44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41C19FC-88FF-4D1E-A5DD-76410DCAE12F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70E81-161E-4E2D-9272-5880C9537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0260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0FA66-EDA3-2563-84A2-F26C6C110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6974915" cy="3329581"/>
          </a:xfrm>
        </p:spPr>
        <p:txBody>
          <a:bodyPr>
            <a:normAutofit/>
          </a:bodyPr>
          <a:lstStyle/>
          <a:p>
            <a:r>
              <a:rPr lang="en-IN" dirty="0">
                <a:latin typeface="Britannic Bold" panose="020B0903060703020204" pitchFamily="34" charset="0"/>
              </a:rPr>
              <a:t>Coffee Shop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95448F-DEBB-BD3D-2C74-A81F71590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6974911" cy="86142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Priyadharshini V – DA Batch</a:t>
            </a:r>
          </a:p>
          <a:p>
            <a:endParaRPr lang="en-IN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854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CDAC-C2E7-4E5F-90EA-05AA211A4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Title  &amp; 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4A29D-ECFF-5425-66DF-BA717D80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</a:t>
            </a:r>
          </a:p>
          <a:p>
            <a:r>
              <a:rPr lang="en-US" b="1" dirty="0"/>
              <a:t>    </a:t>
            </a:r>
            <a:r>
              <a:rPr lang="en-IN" dirty="0"/>
              <a:t>Coffee Shop Sales Analysis</a:t>
            </a:r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OBJECTIVE:</a:t>
            </a:r>
          </a:p>
          <a:p>
            <a:r>
              <a:rPr lang="en-IN" b="1" dirty="0"/>
              <a:t>    </a:t>
            </a:r>
            <a:r>
              <a:rPr lang="en-US" dirty="0"/>
              <a:t>Analyze sales data to uncover trends, evaluate product performance, and support data-driven business decisions by creating dashboard.</a:t>
            </a:r>
          </a:p>
        </p:txBody>
      </p:sp>
    </p:spTree>
    <p:extLst>
      <p:ext uri="{BB962C8B-B14F-4D97-AF65-F5344CB8AC3E}">
        <p14:creationId xmlns:p14="http://schemas.microsoft.com/office/powerpoint/2010/main" val="4146608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18C16-F529-7662-EF3F-EADB20DAB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/>
          </a:bodyPr>
          <a:lstStyle/>
          <a:p>
            <a:r>
              <a:rPr lang="en-US" b="1"/>
              <a:t>Dataset Description</a:t>
            </a:r>
            <a:endParaRPr lang="en-IN" b="1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DAA46B9-B7E8-4487-B28E-C63A6EB7A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C866818C-1E5F-475A-B310-3C06B555F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2155E7-9920-36B0-FF8A-E267C64A60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094410" y="1083389"/>
            <a:ext cx="5449471" cy="2469280"/>
          </a:xfrm>
          <a:prstGeom prst="rect">
            <a:avLst/>
          </a:prstGeom>
          <a:effectLst/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12AFDE8-E1ED-4A49-B8B3-4953F4B8A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C478-C65F-6070-D2F9-0EED760FB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700" b="1"/>
              <a:t>Dataset</a:t>
            </a:r>
            <a:r>
              <a:rPr lang="en-US" sz="1700"/>
              <a:t> 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700"/>
              <a:t>It’s from Kaggle Platform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700"/>
              <a:t>This is a Transactional sales data from a coffee shop Maven Roasters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700"/>
              <a:t>Has more than 1L rows and 11 Columns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70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70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700" b="1"/>
              <a:t>Data Cleaning: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700"/>
              <a:t>Removed Blank values (no cells found)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700"/>
              <a:t>Formatted dates, text , currency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70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5A9994-FF9A-7B0E-E491-E16F27126C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0" y="3981710"/>
            <a:ext cx="5449471" cy="259897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39880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29869-4931-654E-8330-937C3EF06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Calculations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A3B96-5892-48CE-6446-CA8D38371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Done by using Aggregate , Text , Date and Time Functions</a:t>
            </a:r>
          </a:p>
          <a:p>
            <a:r>
              <a:rPr lang="en-US" dirty="0"/>
              <a:t>Total sales , Revenue , Peak hour and Day</a:t>
            </a:r>
          </a:p>
          <a:p>
            <a:endParaRPr lang="en-US" dirty="0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399B265-51D9-71A9-2037-23F739776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930" y="3429000"/>
            <a:ext cx="4197465" cy="2857899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58B14BB-6C2D-D3AE-2BE3-6A5BC77144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9031" y="2171130"/>
            <a:ext cx="1304143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59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CA90-01C3-C743-F8EB-07C07610B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Pivot tables &amp; Charts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0D12C-F79E-822D-0F4A-20EFB371B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 Performance</a:t>
            </a:r>
          </a:p>
          <a:p>
            <a:r>
              <a:rPr lang="en-US" dirty="0"/>
              <a:t>Store Sales Analysis</a:t>
            </a:r>
          </a:p>
          <a:p>
            <a:r>
              <a:rPr lang="en-US" dirty="0"/>
              <a:t>Monthly Revenue</a:t>
            </a:r>
          </a:p>
          <a:p>
            <a:endParaRPr lang="en-IN" dirty="0"/>
          </a:p>
        </p:txBody>
      </p:sp>
      <p:pic>
        <p:nvPicPr>
          <p:cNvPr id="7" name="Picture 6" descr="A graph on a screen&#10;&#10;AI-generated content may be incorrect.">
            <a:extLst>
              <a:ext uri="{FF2B5EF4-FFF2-40B4-BE49-F238E27FC236}">
                <a16:creationId xmlns:a16="http://schemas.microsoft.com/office/drawing/2014/main" id="{B3504C7F-DDC7-78C3-EEE2-19A1D4450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3117955"/>
            <a:ext cx="4639322" cy="3287328"/>
          </a:xfrm>
          <a:prstGeom prst="rect">
            <a:avLst/>
          </a:prstGeom>
        </p:spPr>
      </p:pic>
      <p:pic>
        <p:nvPicPr>
          <p:cNvPr id="10" name="Picture 9" descr="A graph of sales&#10;&#10;AI-generated content may be incorrect.">
            <a:extLst>
              <a:ext uri="{FF2B5EF4-FFF2-40B4-BE49-F238E27FC236}">
                <a16:creationId xmlns:a16="http://schemas.microsoft.com/office/drawing/2014/main" id="{18E26786-0C2D-1D4B-9AD1-E10EEDCCC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748" y="3429000"/>
            <a:ext cx="4620270" cy="297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139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EF39F-2BC6-AFF7-B8A0-1FAD55CFF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r>
              <a:rPr lang="en-US" b="1" dirty="0"/>
              <a:t>Dashboard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FB16AD-5A08-6FA0-C5C2-AF0E05AE04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6915" y="1663908"/>
            <a:ext cx="5451627" cy="40777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64959-471C-1F0E-4F29-B30ECCE7E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729" y="2052214"/>
            <a:ext cx="4415293" cy="4196185"/>
          </a:xfrm>
        </p:spPr>
        <p:txBody>
          <a:bodyPr>
            <a:normAutofit/>
          </a:bodyPr>
          <a:lstStyle/>
          <a:p>
            <a:r>
              <a:rPr lang="en-US" b="1" dirty="0"/>
              <a:t>Content:</a:t>
            </a:r>
            <a:endParaRPr lang="en-US" dirty="0"/>
          </a:p>
          <a:p>
            <a:r>
              <a:rPr lang="en-US" dirty="0"/>
              <a:t>An interactive Excel dashboard was created to visualize key sales metrics.</a:t>
            </a:r>
          </a:p>
          <a:p>
            <a:r>
              <a:rPr lang="en-US" dirty="0"/>
              <a:t>Main dashboard features:</a:t>
            </a:r>
          </a:p>
          <a:p>
            <a:pPr lvl="1"/>
            <a:r>
              <a:rPr lang="en-US" dirty="0"/>
              <a:t>Total Sales overview</a:t>
            </a:r>
          </a:p>
          <a:p>
            <a:pPr lvl="1"/>
            <a:r>
              <a:rPr lang="en-US" dirty="0"/>
              <a:t>Slicers and Timeline and KPI</a:t>
            </a:r>
          </a:p>
          <a:p>
            <a:pPr lvl="1"/>
            <a:r>
              <a:rPr lang="en-US" dirty="0"/>
              <a:t>Visualizations using the created pivot charts </a:t>
            </a:r>
          </a:p>
        </p:txBody>
      </p:sp>
    </p:spTree>
    <p:extLst>
      <p:ext uri="{BB962C8B-B14F-4D97-AF65-F5344CB8AC3E}">
        <p14:creationId xmlns:p14="http://schemas.microsoft.com/office/powerpoint/2010/main" val="3329891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64D40-B6D4-3B80-BDF7-209819956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Analysis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38DA9-A1CD-5EF3-9BD1-FD7E6352A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What-If Analysis (impact of price changes)</a:t>
            </a:r>
          </a:p>
          <a:p>
            <a:r>
              <a:rPr lang="en-US" dirty="0"/>
              <a:t>Scenario Manager (compare pricing strategies)</a:t>
            </a:r>
          </a:p>
          <a:p>
            <a:r>
              <a:rPr lang="en-US" dirty="0"/>
              <a:t>Goal Seek (find price for target sales)</a:t>
            </a:r>
          </a:p>
          <a:p>
            <a:endParaRPr lang="en-IN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245E03-EEDC-F54F-6F26-DBE312DBB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800" y="3865845"/>
            <a:ext cx="2762636" cy="1600423"/>
          </a:xfrm>
          <a:prstGeom prst="rect">
            <a:avLst/>
          </a:prstGeom>
        </p:spPr>
      </p:pic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A13E48FC-069E-B114-8F82-1531506B58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992" y="3865845"/>
            <a:ext cx="4334480" cy="1867161"/>
          </a:xfrm>
          <a:prstGeom prst="rect">
            <a:avLst/>
          </a:prstGeom>
        </p:spPr>
      </p:pic>
      <p:pic>
        <p:nvPicPr>
          <p:cNvPr id="11" name="Picture 10" descr="A screenshot of a table&#10;&#10;AI-generated content may be incorrect.">
            <a:extLst>
              <a:ext uri="{FF2B5EF4-FFF2-40B4-BE49-F238E27FC236}">
                <a16:creationId xmlns:a16="http://schemas.microsoft.com/office/drawing/2014/main" id="{2ED155B2-30A8-5FB7-DA1F-B410D7B329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582" y="3865845"/>
            <a:ext cx="2476846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782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4A67-59D0-A52C-717E-ED3B0EFB1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Macros: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6D0D8-5886-21C4-4881-2ED501632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Applied formatting for the header and added conditional formatting by highlighting the cell which has sales &gt;7</a:t>
            </a:r>
          </a:p>
          <a:p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06309D-29CB-E326-C8B8-2B1E6016D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071" y="2878110"/>
            <a:ext cx="7706801" cy="356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655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9D837-8DD3-33BB-4915-70C83FC69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Power Pivot &amp; Data Modeling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700B8-31E1-CD25-625F-0D9C57BD0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tables Transaction and </a:t>
            </a:r>
            <a:r>
              <a:rPr lang="en-US"/>
              <a:t>Product are </a:t>
            </a:r>
            <a:r>
              <a:rPr lang="en-US" dirty="0"/>
              <a:t>created</a:t>
            </a:r>
          </a:p>
          <a:p>
            <a:r>
              <a:rPr lang="en-US" dirty="0"/>
              <a:t>Generated Relationship between these two tables using diagram view</a:t>
            </a:r>
          </a:p>
          <a:p>
            <a:r>
              <a:rPr lang="en-US" dirty="0"/>
              <a:t>Used some DAX measure</a:t>
            </a:r>
          </a:p>
          <a:p>
            <a:r>
              <a:rPr lang="en-US" dirty="0"/>
              <a:t>Created a Pivot table from the power pivot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EE827B-AABA-9C62-18E0-DD08EE10C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529" b="1322"/>
          <a:stretch>
            <a:fillRect/>
          </a:stretch>
        </p:blipFill>
        <p:spPr>
          <a:xfrm>
            <a:off x="810959" y="4861294"/>
            <a:ext cx="4765623" cy="1543987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D8D7E4-C42C-DB37-B967-227989FEBF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46"/>
          <a:stretch>
            <a:fillRect/>
          </a:stretch>
        </p:blipFill>
        <p:spPr>
          <a:xfrm>
            <a:off x="6316132" y="4861295"/>
            <a:ext cx="4777966" cy="1543987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8E54E8-F371-4652-0907-4CD428B1FB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467" y="2982630"/>
            <a:ext cx="3419508" cy="147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562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56360-5C26-10E7-1D80-200A17E6F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Insights &amp; Recommendations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8FFEA-D12B-2D07-019D-EF0199CBF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Insights:</a:t>
            </a:r>
          </a:p>
          <a:p>
            <a:r>
              <a:rPr lang="en-US" b="1" dirty="0"/>
              <a:t>Peak Sales Periods:</a:t>
            </a:r>
            <a:br>
              <a:rPr lang="en-US" dirty="0"/>
            </a:br>
            <a:r>
              <a:rPr lang="en-US" dirty="0"/>
              <a:t>Sales are highest during the morning hours and on weekends, indicating strong demand during breakfast and leisure times.</a:t>
            </a:r>
          </a:p>
          <a:p>
            <a:r>
              <a:rPr lang="en-US" b="1" dirty="0"/>
              <a:t>Top-Selling Products:</a:t>
            </a:r>
            <a:br>
              <a:rPr lang="en-US" dirty="0"/>
            </a:br>
            <a:r>
              <a:rPr lang="en-US" dirty="0"/>
              <a:t>Espresso/Coffee-based drinks consistently generate the most revenue, while specialty drinks have lower but steady sales.</a:t>
            </a:r>
          </a:p>
          <a:p>
            <a:r>
              <a:rPr lang="en-US" b="1" dirty="0"/>
              <a:t>Recommendations:</a:t>
            </a:r>
          </a:p>
          <a:p>
            <a:r>
              <a:rPr lang="en-US" b="1" dirty="0"/>
              <a:t>Promote Best Sellers:</a:t>
            </a:r>
            <a:br>
              <a:rPr lang="en-US" dirty="0"/>
            </a:br>
            <a:r>
              <a:rPr lang="en-US" dirty="0"/>
              <a:t>Highlight top-selling products with in-store promotions and loyalty rewards to maximize revenue.</a:t>
            </a:r>
          </a:p>
          <a:p>
            <a:r>
              <a:rPr lang="en-US" b="1" dirty="0"/>
              <a:t>Bundle Offers:</a:t>
            </a:r>
            <a:br>
              <a:rPr lang="en-US" dirty="0"/>
            </a:br>
            <a:r>
              <a:rPr lang="en-US" dirty="0"/>
              <a:t>Create more combo deals to encourage higher average transaction values.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1970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917C94-1334-CB74-B37B-49FF355FA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05" y="623571"/>
            <a:ext cx="10260990" cy="35238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Thankyou!</a:t>
            </a:r>
          </a:p>
        </p:txBody>
      </p:sp>
    </p:spTree>
    <p:extLst>
      <p:ext uri="{BB962C8B-B14F-4D97-AF65-F5344CB8AC3E}">
        <p14:creationId xmlns:p14="http://schemas.microsoft.com/office/powerpoint/2010/main" val="3342471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261</TotalTime>
  <Words>323</Words>
  <Application>Microsoft Office PowerPoint</Application>
  <PresentationFormat>Widescreen</PresentationFormat>
  <Paragraphs>58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Britannic Bold</vt:lpstr>
      <vt:lpstr>Calibri</vt:lpstr>
      <vt:lpstr>Century Gothic</vt:lpstr>
      <vt:lpstr>Wingdings</vt:lpstr>
      <vt:lpstr>Wingdings 3</vt:lpstr>
      <vt:lpstr>Ion</vt:lpstr>
      <vt:lpstr>Coffee Shop Sales Analysis</vt:lpstr>
      <vt:lpstr>  Title  &amp; Objective</vt:lpstr>
      <vt:lpstr>Dataset Description</vt:lpstr>
      <vt:lpstr>Calculations</vt:lpstr>
      <vt:lpstr>Pivot tables &amp; Charts</vt:lpstr>
      <vt:lpstr>Dashboard</vt:lpstr>
      <vt:lpstr>Key Analysis</vt:lpstr>
      <vt:lpstr>Macros:</vt:lpstr>
      <vt:lpstr>Power Pivot &amp; Data Modeling</vt:lpstr>
      <vt:lpstr>Insights &amp; Recommendations</vt:lpstr>
      <vt:lpstr>Thankyou!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Priyadharshini Venkatachalapathy</dc:creator>
  <cp:lastModifiedBy>Priyadharshini Venkatachalapathy</cp:lastModifiedBy>
  <cp:revision>4</cp:revision>
  <dcterms:created xsi:type="dcterms:W3CDTF">2025-11-26T11:07:35Z</dcterms:created>
  <dcterms:modified xsi:type="dcterms:W3CDTF">2025-11-26T16:19:01Z</dcterms:modified>
</cp:coreProperties>
</file>